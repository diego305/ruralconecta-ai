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A1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015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Arial"/>
              </a:defRPr>
            </a:pPr>
            <a:r>
              <a:t>🌱 Modelo de Entidad-Relación (MER)</a:t>
            </a:r>
          </a:p>
          <a:p>
            <a:pPr algn="l">
              <a:spcBef>
                <a:spcPts val="1500"/>
              </a:spcBef>
              <a:defRPr sz="2800" b="0">
                <a:solidFill>
                  <a:srgbClr val="FFFFFF"/>
                </a:solidFill>
                <a:latin typeface="Arial"/>
              </a:defRPr>
            </a:pPr>
            <a:r>
              <a:t>Arquitectura de Base de Datos y Trazabilidad Relacional</a:t>
            </a:r>
          </a:p>
          <a:p>
            <a:pPr algn="l">
              <a:spcBef>
                <a:spcPts val="4000"/>
              </a:spcBef>
              <a:defRPr sz="1600" i="1">
                <a:solidFill>
                  <a:srgbClr val="F1F5F9"/>
                </a:solidFill>
                <a:latin typeface="Arial"/>
              </a:defRPr>
            </a:pPr>
            <a:r>
              <a:t>Basado en el esquema oficial de RuralConecta AI (ruralconecta.db)</a:t>
            </a:r>
            <a:br/>
            <a:r>
              <a:t>Provincia de La Rioja - "Conectando Parajes, Cultivando Comunidad"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E7D32"/>
                </a:solidFill>
                <a:latin typeface="Arial"/>
              </a:defRPr>
            </a:pPr>
            <a:r>
              <a:t>📌 1. Vista General de la Base de Datos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108173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800">
                <a:solidFill>
                  <a:srgbClr val="1F2937"/>
                </a:solidFill>
                <a:latin typeface="Arial"/>
              </a:defRPr>
            </a:pPr>
            <a:r>
              <a:t>La base de datos (`ruralconecta.db`) está diseñada bajo el motor relacional SQLite con integridad referencial activa (PRAGMA foreign_keys = ON). Se compone de 16 tablas divididas en 4 áreas operativas:</a:t>
            </a:r>
          </a:p>
          <a:p>
            <a:pPr>
              <a:spcBef>
                <a:spcPts val="1000"/>
              </a:spcBef>
              <a:defRPr sz="1600">
                <a:solidFill>
                  <a:srgbClr val="1F2937"/>
                </a:solidFill>
                <a:latin typeface="Arial"/>
              </a:defRPr>
            </a:pPr>
            <a:r>
              <a:t>• 🔐 1. Seguridad y Accesos: Control de permisos de roles (Ciudadano Rural vs Gestor) y credenciales seguras (SHA-256).</a:t>
            </a:r>
          </a:p>
          <a:p>
            <a:pPr>
              <a:spcBef>
                <a:spcPts val="1000"/>
              </a:spcBef>
              <a:defRPr sz="1600">
                <a:solidFill>
                  <a:srgbClr val="1F2937"/>
                </a:solidFill>
                <a:latin typeface="Arial"/>
              </a:defRPr>
            </a:pPr>
            <a:r>
              <a:t>• 📥 2. Flujo Operativo de Solicitudes: Estructura jerárquica de categorías, subcategorías, parajes y solicitudes.</a:t>
            </a:r>
          </a:p>
          <a:p>
            <a:pPr>
              <a:spcBef>
                <a:spcPts val="1000"/>
              </a:spcBef>
              <a:defRPr sz="1600">
                <a:solidFill>
                  <a:srgbClr val="1F2937"/>
                </a:solidFill>
                <a:latin typeface="Arial"/>
              </a:defRPr>
            </a:pPr>
            <a:r>
              <a:t>• 🌱 3. Auditoría y SLAs: Bitácora inmutable de transiciones de estados que registra fecha, hora y responsable.</a:t>
            </a:r>
          </a:p>
          <a:p>
            <a:pPr>
              <a:spcBef>
                <a:spcPts val="1000"/>
              </a:spcBef>
              <a:defRPr sz="1600">
                <a:solidFill>
                  <a:srgbClr val="1F2937"/>
                </a:solidFill>
                <a:latin typeface="Arial"/>
              </a:defRPr>
            </a:pPr>
            <a:r>
              <a:t>• 🤖 4. Módulos Analíticos e Inteligencia Artificial: Almacenamiento de predicciones NLP, análisis de anomalías, encuestas y registro meteorológico.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00800"/>
            <a:ext cx="108173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4B5563"/>
                </a:solidFill>
                <a:latin typeface="Arial"/>
              </a:defRPr>
            </a:pPr>
            <a:r>
              <a:t>Modelo de Entidad-Relación | RuralConecta AI 🌱 Provincia de La Rioja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📊 2. Diagrama de Entidad-Relación Visual</a:t>
            </a:r>
          </a:p>
        </p:txBody>
      </p:sp>
      <p:pic>
        <p:nvPicPr>
          <p:cNvPr id="3" name="Picture 2" descr="modelo_base_d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6504" y="1371600"/>
            <a:ext cx="86868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6400800"/>
            <a:ext cx="108173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4B5563"/>
                </a:solidFill>
                <a:latin typeface="Arial"/>
              </a:defRPr>
            </a:pPr>
            <a:r>
              <a:t>Modelo de Entidad-Relación | RuralConecta AI 🌱 Provincia de La Rioja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E7D32"/>
                </a:solidFill>
                <a:latin typeface="Arial"/>
              </a:defRPr>
            </a:pPr>
            <a:r>
              <a:t>🔐 3. Módulo de Seguridad y Usuarios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88720"/>
            <a:ext cx="108173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F2937"/>
                </a:solidFill>
                <a:latin typeface="Arial"/>
              </a:defRPr>
            </a:pPr>
            <a:r>
              <a:t>Estructura que maneja la autenticación y el control de accesos diferencial en la app: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011680"/>
            <a:ext cx="2468880" cy="36576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82880"/>
          <a:lstStyle/>
          <a:p>
            <a:pPr algn="ctr">
              <a:defRPr sz="1800" b="1">
                <a:solidFill>
                  <a:srgbClr val="2E7D32"/>
                </a:solidFill>
                <a:latin typeface="Arial"/>
              </a:defRPr>
            </a:pPr>
            <a:r>
              <a:t>📋 roles</a:t>
            </a:r>
          </a:p>
          <a:p>
            <a:pPr>
              <a:spcBef>
                <a:spcPts val="800"/>
              </a:spcBef>
              <a:defRPr sz="1200" i="1">
                <a:solidFill>
                  <a:srgbClr val="4B5563"/>
                </a:solidFill>
                <a:latin typeface="Arial"/>
              </a:defRPr>
            </a:pPr>
            <a:r>
              <a:t>Define los perfiles del sistema.</a:t>
            </a:r>
          </a:p>
          <a:p>
            <a:br/>
            <a:pPr>
              <a:spcBef>
                <a:spcPts val="1000"/>
              </a:spcBef>
              <a:defRPr sz="1100">
                <a:solidFill>
                  <a:srgbClr val="1F2937"/>
                </a:solidFill>
                <a:latin typeface="Arial"/>
              </a:defRPr>
            </a:pPr>
            <a:r>
              <a:t>Atributos:</a:t>
            </a:r>
            <a:br/>
            <a:r>
              <a:t>• id (PK)</a:t>
            </a:r>
            <a:br/>
            <a:r>
              <a:t>• nombre (Vecino, De Gestión)</a:t>
            </a:r>
          </a:p>
        </p:txBody>
      </p:sp>
      <p:sp>
        <p:nvSpPr>
          <p:cNvPr id="5" name="Rectangle 4"/>
          <p:cNvSpPr/>
          <p:nvPr/>
        </p:nvSpPr>
        <p:spPr>
          <a:xfrm>
            <a:off x="3429000" y="2011680"/>
            <a:ext cx="2468880" cy="36576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82880"/>
          <a:lstStyle/>
          <a:p>
            <a:pPr algn="ctr">
              <a:defRPr sz="1800" b="1">
                <a:solidFill>
                  <a:srgbClr val="2E7D32"/>
                </a:solidFill>
                <a:latin typeface="Arial"/>
              </a:defRPr>
            </a:pPr>
            <a:r>
              <a:t>📋 permisos</a:t>
            </a:r>
          </a:p>
          <a:p>
            <a:pPr>
              <a:spcBef>
                <a:spcPts val="800"/>
              </a:spcBef>
              <a:defRPr sz="1200" i="1">
                <a:solidFill>
                  <a:srgbClr val="4B5563"/>
                </a:solidFill>
                <a:latin typeface="Arial"/>
              </a:defRPr>
            </a:pPr>
            <a:r>
              <a:t>Catálogo de permisos de seguridad.</a:t>
            </a:r>
          </a:p>
          <a:p>
            <a:br/>
            <a:pPr>
              <a:spcBef>
                <a:spcPts val="1000"/>
              </a:spcBef>
              <a:defRPr sz="1100">
                <a:solidFill>
                  <a:srgbClr val="1F2937"/>
                </a:solidFill>
                <a:latin typeface="Arial"/>
              </a:defRPr>
            </a:pPr>
            <a:r>
              <a:t>Atributos:</a:t>
            </a:r>
            <a:br/>
            <a:r>
              <a:t>• id (PK)</a:t>
            </a:r>
            <a:br/>
            <a:r>
              <a:t>• nombre (CREAR_RECLAMO, GESTIONAR_USUARIOS, etc.)</a:t>
            </a:r>
            <a:br/>
            <a:r>
              <a:t>• descripcion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172200" y="2011680"/>
            <a:ext cx="2468880" cy="36576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82880"/>
          <a:lstStyle/>
          <a:p>
            <a:pPr algn="ctr">
              <a:defRPr sz="1800" b="1">
                <a:solidFill>
                  <a:srgbClr val="2E7D32"/>
                </a:solidFill>
                <a:latin typeface="Arial"/>
              </a:defRPr>
            </a:pPr>
            <a:r>
              <a:t>📋 roles_permisos</a:t>
            </a:r>
          </a:p>
          <a:p>
            <a:pPr>
              <a:spcBef>
                <a:spcPts val="800"/>
              </a:spcBef>
              <a:defRPr sz="1200" i="1">
                <a:solidFill>
                  <a:srgbClr val="4B5563"/>
                </a:solidFill>
                <a:latin typeface="Arial"/>
              </a:defRPr>
            </a:pPr>
            <a:r>
              <a:t>Tabla intermedia de muchos-a-muchos.</a:t>
            </a:r>
          </a:p>
          <a:p>
            <a:br/>
            <a:pPr>
              <a:spcBef>
                <a:spcPts val="1000"/>
              </a:spcBef>
              <a:defRPr sz="1100">
                <a:solidFill>
                  <a:srgbClr val="1F2937"/>
                </a:solidFill>
                <a:latin typeface="Arial"/>
              </a:defRPr>
            </a:pPr>
            <a:r>
              <a:t>Atributos:</a:t>
            </a:r>
            <a:br/>
            <a:r>
              <a:t>• rol_id (PK, FK)</a:t>
            </a:r>
            <a:br/>
            <a:r>
              <a:t>• permiso_id (PK, FK)</a:t>
            </a:r>
            <a:br/>
            <a:r>
              <a:t>• Relación CASCADE al borrar roles/permisos.</a:t>
            </a:r>
          </a:p>
        </p:txBody>
      </p:sp>
      <p:sp>
        <p:nvSpPr>
          <p:cNvPr id="7" name="Rectangle 6"/>
          <p:cNvSpPr/>
          <p:nvPr/>
        </p:nvSpPr>
        <p:spPr>
          <a:xfrm>
            <a:off x="8915400" y="2011680"/>
            <a:ext cx="2468880" cy="36576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82880"/>
          <a:lstStyle/>
          <a:p>
            <a:pPr algn="ctr">
              <a:defRPr sz="1800" b="1">
                <a:solidFill>
                  <a:srgbClr val="2E7D32"/>
                </a:solidFill>
                <a:latin typeface="Arial"/>
              </a:defRPr>
            </a:pPr>
            <a:r>
              <a:t>📋 usuarios</a:t>
            </a:r>
          </a:p>
          <a:p>
            <a:pPr>
              <a:spcBef>
                <a:spcPts val="800"/>
              </a:spcBef>
              <a:defRPr sz="1200" i="1">
                <a:solidFill>
                  <a:srgbClr val="4B5563"/>
                </a:solidFill>
                <a:latin typeface="Arial"/>
              </a:defRPr>
            </a:pPr>
            <a:r>
              <a:t>Registro de cuentas de acceso.</a:t>
            </a:r>
          </a:p>
          <a:p>
            <a:br/>
            <a:pPr>
              <a:spcBef>
                <a:spcPts val="1000"/>
              </a:spcBef>
              <a:defRPr sz="1100">
                <a:solidFill>
                  <a:srgbClr val="1F2937"/>
                </a:solidFill>
                <a:latin typeface="Arial"/>
              </a:defRPr>
            </a:pPr>
            <a:r>
              <a:t>Atributos:</a:t>
            </a:r>
            <a:br/>
            <a:r>
              <a:t>• id (PK)</a:t>
            </a:r>
            <a:br/>
            <a:r>
              <a:t>• nombre, apellido, dni (único), cuil (único)</a:t>
            </a:r>
            <a:br/>
            <a:r>
              <a:t>• clave (SHA-256)</a:t>
            </a:r>
            <a:br/>
            <a:r>
              <a:t>• rol_id (FK)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400800"/>
            <a:ext cx="108173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4B5563"/>
                </a:solidFill>
                <a:latin typeface="Arial"/>
              </a:defRPr>
            </a:pPr>
            <a:r>
              <a:t>Modelo de Entidad-Relación | RuralConecta AI 🌱 Provincia de La Rioja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E7D32"/>
                </a:solidFill>
                <a:latin typeface="Arial"/>
              </a:defRPr>
            </a:pPr>
            <a:r>
              <a:t>📥 4. Estructura y Registro de Reclamos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371600"/>
            <a:ext cx="5120640" cy="45720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2000" b="1">
                <a:solidFill>
                  <a:srgbClr val="2E7D32"/>
                </a:solidFill>
                <a:latin typeface="Arial"/>
              </a:defRPr>
            </a:pPr>
            <a:r>
              <a:t>Tabla solicitudes (Núcleo Relacional)</a:t>
            </a:r>
          </a:p>
          <a:p>
            <a:br/>
            <a:pPr>
              <a:spcBef>
                <a:spcPts val="500"/>
              </a:spcBef>
              <a:defRPr sz="1400">
                <a:solidFill>
                  <a:srgbClr val="1F2937"/>
                </a:solidFill>
                <a:latin typeface="Arial"/>
              </a:defRPr>
            </a:pPr>
            <a:r>
              <a:t>Centraliza todos los incidentes públicos. Sus atributos clave son:</a:t>
            </a:r>
            <a:br/>
            <a:r>
              <a:t>• id: Número de Gestión Único.</a:t>
            </a:r>
            <a:br/>
            <a:r>
              <a:t>• comentario: Problemática del vecino.</a:t>
            </a:r>
            <a:br/>
            <a:r>
              <a:t>• prioridad: Urgencia operativa (ALTA, MEDIA, BAJA).</a:t>
            </a:r>
            <a:br/>
            <a:r>
              <a:t>• score_sentimiento y urgencia_nlp: Métricas obtenidas mediante inteligencia artificial (NLP).</a:t>
            </a:r>
            <a:br/>
            <a:r>
              <a:t>• fecha_creacion y fecha_resolucion: Marcas de tiempo de control de SLA.</a:t>
            </a:r>
          </a:p>
        </p:txBody>
      </p:sp>
      <p:sp>
        <p:nvSpPr>
          <p:cNvPr id="4" name="Rectangle 3"/>
          <p:cNvSpPr/>
          <p:nvPr/>
        </p:nvSpPr>
        <p:spPr>
          <a:xfrm>
            <a:off x="6382512" y="1371600"/>
            <a:ext cx="5120640" cy="45720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2000" b="1">
                <a:solidFill>
                  <a:srgbClr val="E6A15C"/>
                </a:solidFill>
                <a:latin typeface="Arial"/>
              </a:defRPr>
            </a:pPr>
            <a:r>
              <a:t>Entidades de Clasificación y Apoyo</a:t>
            </a:r>
          </a:p>
          <a:p>
            <a:br/>
            <a:pPr>
              <a:spcBef>
                <a:spcPts val="500"/>
              </a:spcBef>
              <a:defRPr sz="1400">
                <a:solidFill>
                  <a:srgbClr val="1F2937"/>
                </a:solidFill>
                <a:latin typeface="Arial"/>
              </a:defRPr>
            </a:pPr>
            <a:r>
              <a:t>• categorias: Tipos de reclamos. Contiene sla_horas (tiempo límite) y estacionalidad_alta.</a:t>
            </a:r>
            <a:br/>
            <a:br/>
            <a:r>
              <a:t>• subcategorias: Desglose detallado del incidente. Vinculada a una categoría.</a:t>
            </a:r>
            <a:br/>
            <a:br/>
            <a:r>
              <a:t>• barrios: Geolocalización municipal. Divide a la ciudad en zonas (Centro, Norte, Sur, Este, Oeste).</a:t>
            </a:r>
            <a:br/>
            <a:br/>
            <a:r>
              <a:t>• estados_solicitud: Estados operativos habilitados (PENDIENTE, EN REVISION, EN PROCESO, RESUELTO, RECHAZADO).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00800"/>
            <a:ext cx="108173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4B5563"/>
                </a:solidFill>
                <a:latin typeface="Arial"/>
              </a:defRPr>
            </a:pPr>
            <a:r>
              <a:t>Modelo de Entidad-Relación | RuralConecta AI 🌱 Provincia de La Rioja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E7D32"/>
                </a:solidFill>
                <a:latin typeface="Arial"/>
              </a:defRPr>
            </a:pPr>
            <a:r>
              <a:t>🏛️ 5. Trazabilidad de Auditoría e Integridad SLA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600">
                <a:solidFill>
                  <a:srgbClr val="1F2937"/>
                </a:solidFill>
                <a:latin typeface="Arial"/>
              </a:defRPr>
            </a:pPr>
            <a:r>
              <a:t>La tabla historial_estados es la bitácora inmutable del sistema analítico de auditoría. Registra cada transición operativa:</a:t>
            </a:r>
          </a:p>
          <a:p>
            <a:pPr>
              <a:spcBef>
                <a:spcPts val="800"/>
              </a:spcBef>
              <a:defRPr sz="1400">
                <a:solidFill>
                  <a:srgbClr val="1F2937"/>
                </a:solidFill>
                <a:latin typeface="Arial"/>
              </a:defRPr>
            </a:pPr>
            <a:r>
              <a:t>• Historial Forense: Permite rastrear quién cambió de estado una solicitud, cuándo y qué rol tenía.</a:t>
            </a:r>
          </a:p>
          <a:p>
            <a:pPr>
              <a:spcBef>
                <a:spcPts val="800"/>
              </a:spcBef>
              <a:defRPr sz="1400">
                <a:solidFill>
                  <a:srgbClr val="1F2937"/>
                </a:solidFill>
                <a:latin typeface="Arial"/>
              </a:defRPr>
            </a:pPr>
            <a:r>
              <a:t>• Cálculo de Dwell Times: Mide de forma exacta el tiempo de permanencia de un reclamo en cada estado (por ejemplo, retrasos en revisión vs en calle).</a:t>
            </a:r>
          </a:p>
          <a:p>
            <a:pPr>
              <a:spcBef>
                <a:spcPts val="800"/>
              </a:spcBef>
              <a:defRPr sz="1400">
                <a:solidFill>
                  <a:srgbClr val="1F2937"/>
                </a:solidFill>
                <a:latin typeface="Arial"/>
              </a:defRPr>
            </a:pPr>
            <a:r>
              <a:t>• Auditoría de SLAs: Almacena los datos clave que validan si el reclamo se resolvió a tiempo o si superó el plazo máximo estipulado por su categoría.</a:t>
            </a:r>
          </a:p>
        </p:txBody>
      </p:sp>
      <p:sp>
        <p:nvSpPr>
          <p:cNvPr id="4" name="Rectangle 3"/>
          <p:cNvSpPr/>
          <p:nvPr/>
        </p:nvSpPr>
        <p:spPr>
          <a:xfrm>
            <a:off x="6382512" y="1371600"/>
            <a:ext cx="5120640" cy="45720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2000" b="1">
                <a:solidFill>
                  <a:srgbClr val="2E7D32"/>
                </a:solidFill>
                <a:latin typeface="Arial"/>
              </a:defRPr>
            </a:pPr>
            <a:r>
              <a:t>Esquema: historial_estados</a:t>
            </a:r>
          </a:p>
          <a:p>
            <a:br/>
            <a:pPr>
              <a:spcBef>
                <a:spcPts val="1000"/>
              </a:spcBef>
              <a:defRPr sz="1400">
                <a:solidFill>
                  <a:srgbClr val="1F2937"/>
                </a:solidFill>
                <a:latin typeface="Arial"/>
              </a:defRPr>
            </a:pPr>
            <a:r>
              <a:t>Atributos y Claves:</a:t>
            </a:r>
            <a:br/>
            <a:br/>
            <a:r>
              <a:t>• id (PK): Identificador autoincremental.</a:t>
            </a:r>
            <a:br/>
            <a:r>
              <a:t>• solicitud_id (FK): Enlace al reclamo auditado.</a:t>
            </a:r>
            <a:br/>
            <a:r>
              <a:t>• estado_anterior_id (FK): Estado de origen.</a:t>
            </a:r>
            <a:br/>
            <a:r>
              <a:t>• estado_nuevo_id (FK): Estado de destino.</a:t>
            </a:r>
            <a:br/>
            <a:r>
              <a:t>• usuario_id (FK): Operador municipal responsable del cambio.</a:t>
            </a:r>
            <a:br/>
            <a:r>
              <a:t>• fecha_cambio (DATETIME): Marca de tiempo del cambio de estado.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00800"/>
            <a:ext cx="108173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4B5563"/>
                </a:solidFill>
                <a:latin typeface="Arial"/>
              </a:defRPr>
            </a:pPr>
            <a:r>
              <a:t>Modelo de Entidad-Relación | RuralConecta AI 🌱 Provincia de La Rioja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E7D32"/>
                </a:solidFill>
                <a:latin typeface="Arial"/>
              </a:defRPr>
            </a:pPr>
            <a:r>
              <a:t>🤖 6. Inteligencia Artificial y Reportes Analíticos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88720"/>
            <a:ext cx="108173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F2937"/>
                </a:solidFill>
                <a:latin typeface="Arial"/>
              </a:defRPr>
            </a:pPr>
            <a:r>
              <a:t>Tablas estratégicas destinadas a almacenar el procesamiento avanzado del sistema: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011680"/>
            <a:ext cx="2468880" cy="36576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82880"/>
          <a:lstStyle/>
          <a:p>
            <a:pPr algn="ctr">
              <a:defRPr sz="1700" b="1">
                <a:solidFill>
                  <a:srgbClr val="E6A15C"/>
                </a:solidFill>
                <a:latin typeface="Arial"/>
              </a:defRPr>
            </a:pPr>
            <a:r>
              <a:t>🤖 etiquetas_ia</a:t>
            </a:r>
          </a:p>
          <a:p>
            <a:pPr>
              <a:spcBef>
                <a:spcPts val="800"/>
              </a:spcBef>
              <a:defRPr sz="1200" i="1">
                <a:solidFill>
                  <a:srgbClr val="4B5563"/>
                </a:solidFill>
                <a:latin typeface="Arial"/>
              </a:defRPr>
            </a:pPr>
            <a:r>
              <a:t>Keywords NLP extraídas del reclamo para identificar problemáticas y agruparlas.</a:t>
            </a:r>
          </a:p>
          <a:p>
            <a:br/>
            <a:pPr>
              <a:spcBef>
                <a:spcPts val="1000"/>
              </a:spcBef>
              <a:defRPr sz="1100">
                <a:solidFill>
                  <a:srgbClr val="1F2937"/>
                </a:solidFill>
                <a:latin typeface="Arial"/>
              </a:defRPr>
            </a:pPr>
            <a:r>
              <a:t>Atributos:</a:t>
            </a:r>
            <a:br/>
            <a:r>
              <a:t>• id (PK)</a:t>
            </a:r>
            <a:br/>
            <a:r>
              <a:t>• solicitud_id (FK)</a:t>
            </a:r>
            <a:br/>
            <a:r>
              <a:t>• keyword</a:t>
            </a:r>
            <a:br/>
            <a:r>
              <a:t>• confianza_ia (REAL)</a:t>
            </a:r>
          </a:p>
        </p:txBody>
      </p:sp>
      <p:sp>
        <p:nvSpPr>
          <p:cNvPr id="5" name="Rectangle 4"/>
          <p:cNvSpPr/>
          <p:nvPr/>
        </p:nvSpPr>
        <p:spPr>
          <a:xfrm>
            <a:off x="3429000" y="2011680"/>
            <a:ext cx="2468880" cy="36576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82880"/>
          <a:lstStyle/>
          <a:p>
            <a:pPr algn="ctr">
              <a:defRPr sz="1700" b="1">
                <a:solidFill>
                  <a:srgbClr val="E6A15C"/>
                </a:solidFill>
                <a:latin typeface="Arial"/>
              </a:defRPr>
            </a:pPr>
            <a:r>
              <a:t>🤖 encuestas_satisfaccion</a:t>
            </a:r>
          </a:p>
          <a:p>
            <a:pPr>
              <a:spcBef>
                <a:spcPts val="800"/>
              </a:spcBef>
              <a:defRPr sz="1200" i="1">
                <a:solidFill>
                  <a:srgbClr val="4B5563"/>
                </a:solidFill>
                <a:latin typeface="Arial"/>
              </a:defRPr>
            </a:pPr>
            <a:r>
              <a:t>Medición de calidad del servicio. Registra el feedback del vecino.</a:t>
            </a:r>
          </a:p>
          <a:p>
            <a:br/>
            <a:pPr>
              <a:spcBef>
                <a:spcPts val="1000"/>
              </a:spcBef>
              <a:defRPr sz="1100">
                <a:solidFill>
                  <a:srgbClr val="1F2937"/>
                </a:solidFill>
                <a:latin typeface="Arial"/>
              </a:defRPr>
            </a:pPr>
            <a:r>
              <a:t>Atributos:</a:t>
            </a:r>
            <a:br/>
            <a:r>
              <a:t>• id (PK)</a:t>
            </a:r>
            <a:br/>
            <a:r>
              <a:t>• solicitud_id (FK)</a:t>
            </a:r>
            <a:br/>
            <a:r>
              <a:t>• puntuacion (1 a 5)</a:t>
            </a:r>
            <a:br/>
            <a:r>
              <a:t>• comentario_vecino</a:t>
            </a:r>
            <a:br/>
            <a:r>
              <a:t>• fecha_encuesta</a:t>
            </a:r>
          </a:p>
        </p:txBody>
      </p:sp>
      <p:sp>
        <p:nvSpPr>
          <p:cNvPr id="6" name="Rectangle 5"/>
          <p:cNvSpPr/>
          <p:nvPr/>
        </p:nvSpPr>
        <p:spPr>
          <a:xfrm>
            <a:off x="6172200" y="2011680"/>
            <a:ext cx="2468880" cy="36576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82880"/>
          <a:lstStyle/>
          <a:p>
            <a:pPr algn="ctr">
              <a:defRPr sz="1700" b="1">
                <a:solidFill>
                  <a:srgbClr val="E6A15C"/>
                </a:solidFill>
                <a:latin typeface="Arial"/>
              </a:defRPr>
            </a:pPr>
            <a:r>
              <a:t>🤖 alertas_anomalias</a:t>
            </a:r>
          </a:p>
          <a:p>
            <a:pPr>
              <a:spcBef>
                <a:spcPts val="800"/>
              </a:spcBef>
              <a:defRPr sz="1200" i="1">
                <a:solidFill>
                  <a:srgbClr val="4B5563"/>
                </a:solidFill>
                <a:latin typeface="Arial"/>
              </a:defRPr>
            </a:pPr>
            <a:r>
              <a:t>Picos atípicos y sobrecargas de reclamos en categorías críticas.</a:t>
            </a:r>
          </a:p>
          <a:p>
            <a:br/>
            <a:pPr>
              <a:spcBef>
                <a:spcPts val="1000"/>
              </a:spcBef>
              <a:defRPr sz="1100">
                <a:solidFill>
                  <a:srgbClr val="1F2937"/>
                </a:solidFill>
                <a:latin typeface="Arial"/>
              </a:defRPr>
            </a:pPr>
            <a:r>
              <a:t>Atributos:</a:t>
            </a:r>
            <a:br/>
            <a:r>
              <a:t>• id (PK)</a:t>
            </a:r>
            <a:br/>
            <a:r>
              <a:t>• fecha_deteccion</a:t>
            </a:r>
            <a:br/>
            <a:r>
              <a:t>• tipo_anomalia</a:t>
            </a:r>
            <a:br/>
            <a:r>
              <a:t>• categoria_id (FK)</a:t>
            </a:r>
            <a:br/>
            <a:r>
              <a:t>• severidad</a:t>
            </a:r>
          </a:p>
        </p:txBody>
      </p:sp>
      <p:sp>
        <p:nvSpPr>
          <p:cNvPr id="7" name="Rectangle 6"/>
          <p:cNvSpPr/>
          <p:nvPr/>
        </p:nvSpPr>
        <p:spPr>
          <a:xfrm>
            <a:off x="8915400" y="2011680"/>
            <a:ext cx="2468880" cy="36576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82880"/>
          <a:lstStyle/>
          <a:p>
            <a:pPr algn="ctr">
              <a:defRPr sz="1700" b="1">
                <a:solidFill>
                  <a:srgbClr val="E6A15C"/>
                </a:solidFill>
                <a:latin typeface="Arial"/>
              </a:defRPr>
            </a:pPr>
            <a:r>
              <a:t>🤖 zonas_calientes</a:t>
            </a:r>
          </a:p>
          <a:p>
            <a:pPr>
              <a:spcBef>
                <a:spcPts val="800"/>
              </a:spcBef>
              <a:defRPr sz="1200" i="1">
                <a:solidFill>
                  <a:srgbClr val="4B5563"/>
                </a:solidFill>
                <a:latin typeface="Arial"/>
              </a:defRPr>
            </a:pPr>
            <a:r>
              <a:t>Mapea focos geográficos recurrentes de problemas urbanos.</a:t>
            </a:r>
          </a:p>
          <a:p>
            <a:br/>
            <a:pPr>
              <a:spcBef>
                <a:spcPts val="1000"/>
              </a:spcBef>
              <a:defRPr sz="1100">
                <a:solidFill>
                  <a:srgbClr val="1F2937"/>
                </a:solidFill>
                <a:latin typeface="Arial"/>
              </a:defRPr>
            </a:pPr>
            <a:r>
              <a:t>Atributos:</a:t>
            </a:r>
            <a:br/>
            <a:r>
              <a:t>• id (PK)</a:t>
            </a:r>
            <a:br/>
            <a:r>
              <a:t>• categoria_id (FK)</a:t>
            </a:r>
            <a:br/>
            <a:r>
              <a:t>• barrio_id (FK)</a:t>
            </a:r>
            <a:br/>
            <a:r>
              <a:t>• coordenadas y recurrencia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400800"/>
            <a:ext cx="108173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4B5563"/>
                </a:solidFill>
                <a:latin typeface="Arial"/>
              </a:defRPr>
            </a:pPr>
            <a:r>
              <a:t>Modelo de Entidad-Relación | RuralConecta AI 🌱 Provincia de La Rioja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E7D32"/>
                </a:solidFill>
                <a:latin typeface="Arial"/>
              </a:defRPr>
            </a:pPr>
            <a:r>
              <a:t>💡 7. Integridad de Base de Datos y Buenas Prácticas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108173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800">
                <a:solidFill>
                  <a:srgbClr val="1F2937"/>
                </a:solidFill>
                <a:latin typeface="Arial"/>
              </a:defRPr>
            </a:pPr>
            <a:r>
              <a:t>Recomendaciones técnicas para mantener la integridad de la base de datos de RuralConecta:</a:t>
            </a:r>
          </a:p>
          <a:p>
            <a:pPr>
              <a:spcBef>
                <a:spcPts val="1200"/>
              </a:spcBef>
              <a:defRPr sz="1600" b="1">
                <a:solidFill>
                  <a:srgbClr val="2E7D32"/>
                </a:solidFill>
                <a:latin typeface="Arial"/>
              </a:defRPr>
            </a:pPr>
            <a:r>
              <a:t>🔑 Activar Claves Foráneas (SQLite):</a:t>
            </a:r>
          </a:p>
          <a:p>
            <a:pPr>
              <a:spcBef>
                <a:spcPts val="300"/>
              </a:spcBef>
              <a:defRPr sz="1400">
                <a:solidFill>
                  <a:srgbClr val="1F2937"/>
                </a:solidFill>
                <a:latin typeface="Arial"/>
              </a:defRPr>
            </a:pPr>
            <a:r>
              <a:t>Siempre ejecutar `PRAGMA foreign_keys = ON;` al iniciar cualquier conexión de base de datos en Python para forzar las restricciones relacionales.</a:t>
            </a:r>
          </a:p>
          <a:p>
            <a:pPr>
              <a:spcBef>
                <a:spcPts val="1200"/>
              </a:spcBef>
              <a:defRPr sz="1600" b="1">
                <a:solidFill>
                  <a:srgbClr val="2E7D32"/>
                </a:solidFill>
                <a:latin typeface="Arial"/>
              </a:defRPr>
            </a:pPr>
            <a:r>
              <a:t>🗑️ Eliminaciones en Cascada (ON DELETE CASCADE):</a:t>
            </a:r>
          </a:p>
          <a:p>
            <a:pPr>
              <a:spcBef>
                <a:spcPts val="300"/>
              </a:spcBef>
              <a:defRPr sz="1400">
                <a:solidFill>
                  <a:srgbClr val="1F2937"/>
                </a:solidFill>
                <a:latin typeface="Arial"/>
              </a:defRPr>
            </a:pPr>
            <a:r>
              <a:t>Configurada en las tablas intermedias como `roles_permisos` para asegurar que al borrar un rol, se depuren automáticamente sus privilegios y evitar registros huérfanos.</a:t>
            </a:r>
          </a:p>
          <a:p>
            <a:pPr>
              <a:spcBef>
                <a:spcPts val="1200"/>
              </a:spcBef>
              <a:defRPr sz="1600" b="1">
                <a:solidFill>
                  <a:srgbClr val="2E7D32"/>
                </a:solidFill>
                <a:latin typeface="Arial"/>
              </a:defRPr>
            </a:pPr>
            <a:r>
              <a:t>🛡️ Transparencia de Auditoría:</a:t>
            </a:r>
          </a:p>
          <a:p>
            <a:pPr>
              <a:spcBef>
                <a:spcPts val="300"/>
              </a:spcBef>
              <a:defRPr sz="1400">
                <a:solidFill>
                  <a:srgbClr val="1F2937"/>
                </a:solidFill>
                <a:latin typeface="Arial"/>
              </a:defRPr>
            </a:pPr>
            <a:r>
              <a:t>No se debe permitir la modificación del campo `comentario` en `solicitudes` una vez ingresado. Cualquier edición de estado debe registrarse de forma inmutable en `historial_estados`.</a:t>
            </a:r>
          </a:p>
          <a:p>
            <a:pPr>
              <a:spcBef>
                <a:spcPts val="1200"/>
              </a:spcBef>
              <a:defRPr sz="1600" b="1">
                <a:solidFill>
                  <a:srgbClr val="2E7D32"/>
                </a:solidFill>
                <a:latin typeface="Arial"/>
              </a:defRPr>
            </a:pPr>
            <a:r>
              <a:t>📊 Contextualización Meteorológica:</a:t>
            </a:r>
          </a:p>
          <a:p>
            <a:pPr>
              <a:spcBef>
                <a:spcPts val="300"/>
              </a:spcBef>
              <a:defRPr sz="1400">
                <a:solidFill>
                  <a:srgbClr val="1F2937"/>
                </a:solidFill>
                <a:latin typeface="Arial"/>
              </a:defRPr>
            </a:pPr>
            <a:r>
              <a:t>Utilizar cruces relacionales por fecha con `registro_climatico` para identificar si picos atípicos de solicitudes de Caminos Rurales coinciden con temporales de lluvia de gran volumen.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00800"/>
            <a:ext cx="108173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4B5563"/>
                </a:solidFill>
                <a:latin typeface="Arial"/>
              </a:defRPr>
            </a:pPr>
            <a:r>
              <a:t>Modelo de Entidad-Relación | RuralConecta AI 🌱 Provincia de La Rioja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