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🌱 Ecosistema RuralConecta AI</a:t>
            </a:r>
          </a:p>
          <a:p>
            <a:pPr algn="l">
              <a:spcBef>
                <a:spcPts val="1500"/>
              </a:spcBef>
              <a:defRPr sz="2800" b="0">
                <a:solidFill>
                  <a:srgbClr val="FFFFFF"/>
                </a:solidFill>
                <a:latin typeface="Arial"/>
              </a:defRPr>
            </a:pPr>
            <a:r>
              <a:t>Manual de Usuario: Módulo de Auditoría y SLAs</a:t>
            </a:r>
          </a:p>
          <a:p>
            <a:pPr algn="l">
              <a:spcBef>
                <a:spcPts val="4000"/>
              </a:spcBef>
              <a:defRPr sz="1600" i="1">
                <a:solidFill>
                  <a:srgbClr val="F1F5F9"/>
                </a:solidFill>
                <a:latin typeface="Arial"/>
              </a:defRPr>
            </a:pPr>
            <a:r>
              <a:t>Herramienta analítica de monitoreo, SLAs y control de gestión rural</a:t>
            </a:r>
            <a:br/>
            <a:r>
              <a:t>Provincia de La Rioja - "Conectando Parajes, Cultivando Comunidad"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📌 1. Introducción al Módulo de Auditoría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El módulo de auditoría es la herramienta analítica de control interno. Registra automáticamente cada cambio de estado en la vida de una solicitud rural, permitiendo:</a:t>
            </a:r>
          </a:p>
          <a:p>
            <a:pPr>
              <a:spcBef>
                <a:spcPts val="800"/>
              </a:spcBef>
              <a:defRPr sz="1600">
                <a:solidFill>
                  <a:srgbClr val="1F2937"/>
                </a:solidFill>
                <a:latin typeface="Arial"/>
              </a:defRPr>
            </a:pPr>
            <a:r>
              <a:t>• 📈 Monitoreo Operativo: Supervisar tiempos de respuesta y resoluciones en tiempo real.</a:t>
            </a:r>
          </a:p>
          <a:p>
            <a:pPr>
              <a:spcBef>
                <a:spcPts val="800"/>
              </a:spcBef>
              <a:defRPr sz="1600">
                <a:solidFill>
                  <a:srgbClr val="1F2937"/>
                </a:solidFill>
                <a:latin typeface="Arial"/>
              </a:defRPr>
            </a:pPr>
            <a:r>
              <a:t>• ⏳ Cuellos de Botella: Identificar en qué estados se acumulan retrasos (mesa de entrada vs coordinadores).</a:t>
            </a:r>
          </a:p>
          <a:p>
            <a:pPr>
              <a:spcBef>
                <a:spcPts val="800"/>
              </a:spcBef>
              <a:defRPr sz="1600">
                <a:solidFill>
                  <a:srgbClr val="1F2937"/>
                </a:solidFill>
                <a:latin typeface="Arial"/>
              </a:defRPr>
            </a:pPr>
            <a:r>
              <a:t>• 🔍 Auditoría Forense: Investigar la historia completa de transiciones paso a paso por ID de caso.</a:t>
            </a:r>
          </a:p>
          <a:p>
            <a:pPr>
              <a:spcBef>
                <a:spcPts val="800"/>
              </a:spcBef>
              <a:defRPr sz="1600">
                <a:solidFill>
                  <a:srgbClr val="1F2937"/>
                </a:solidFill>
                <a:latin typeface="Arial"/>
              </a:defRPr>
            </a:pPr>
            <a:r>
              <a:t>• 👤 Desempeño del Personal: Evaluar la productividad y carga laboral de cada gestor de servicio.</a:t>
            </a:r>
          </a:p>
          <a:p>
            <a:pPr>
              <a:spcBef>
                <a:spcPts val="800"/>
              </a:spcBef>
              <a:defRPr sz="1600">
                <a:solidFill>
                  <a:srgbClr val="1F2937"/>
                </a:solidFill>
                <a:latin typeface="Arial"/>
              </a:defRPr>
            </a:pPr>
            <a:r>
              <a:t>• 🚨 Prevención de Demoras: Monitorear alertas de vencimiento para priorizar incidentes rurales críticos.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  <a:latin typeface="Arial"/>
              </a:defRPr>
            </a:pPr>
            <a:r>
              <a:t>RuralConecta AI 🌱 Provincia de La Rioja | "Conectando Parajes, Cultivando Comunidad"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📊 2. Indicadores Clave de Rendimiento (KPIs)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En la parte superior del panel se presentan 5 métricas clave para evaluar la salud de la gestión vecinal: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011680"/>
            <a:ext cx="19659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800" b="1">
                <a:solidFill>
                  <a:srgbClr val="1F2937"/>
                </a:solidFill>
                <a:latin typeface="Arial"/>
              </a:defRPr>
            </a:pPr>
            <a:r>
              <a:t>Total Reclamos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E6A15C"/>
                </a:solidFill>
                <a:latin typeface="Arial"/>
              </a:defRPr>
            </a:pPr>
            <a:r>
              <a:t>Volumen Histórico</a:t>
            </a:r>
          </a:p>
          <a:p>
            <a:pPr algn="ctr">
              <a:spcBef>
                <a:spcPts val="1500"/>
              </a:spcBef>
              <a:defRPr sz="1100">
                <a:solidFill>
                  <a:srgbClr val="4B5563"/>
                </a:solidFill>
                <a:latin typeface="Arial"/>
              </a:defRPr>
            </a:pPr>
            <a:r>
              <a:t>Conteo acumulado de todas las solicitudes en la base de datos.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898648" y="2011680"/>
            <a:ext cx="19659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800" b="1">
                <a:solidFill>
                  <a:srgbClr val="1F2937"/>
                </a:solidFill>
                <a:latin typeface="Arial"/>
              </a:defRPr>
            </a:pPr>
            <a:r>
              <a:t>Resueltos / Cerrados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E6A15C"/>
                </a:solidFill>
                <a:latin typeface="Arial"/>
              </a:defRPr>
            </a:pPr>
            <a:r>
              <a:t>Finalizados</a:t>
            </a:r>
          </a:p>
          <a:p>
            <a:pPr algn="ctr">
              <a:spcBef>
                <a:spcPts val="1500"/>
              </a:spcBef>
              <a:defRPr sz="1100">
                <a:solidFill>
                  <a:srgbClr val="4B5563"/>
                </a:solidFill>
                <a:latin typeface="Arial"/>
              </a:defRPr>
            </a:pPr>
            <a:r>
              <a:t>Solicitudes que han alcanzado un estado final (RESUELTO o RECHAZADO).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11496" y="2011680"/>
            <a:ext cx="19659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800" b="1">
                <a:solidFill>
                  <a:srgbClr val="1F2937"/>
                </a:solidFill>
                <a:latin typeface="Arial"/>
              </a:defRPr>
            </a:pPr>
            <a:r>
              <a:t>Promedio Resolución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E6A15C"/>
                </a:solidFill>
                <a:latin typeface="Arial"/>
              </a:defRPr>
            </a:pPr>
            <a:r>
              <a:t>Tiempo Medio</a:t>
            </a:r>
          </a:p>
          <a:p>
            <a:pPr algn="ctr">
              <a:spcBef>
                <a:spcPts val="1500"/>
              </a:spcBef>
              <a:defRPr sz="1100">
                <a:solidFill>
                  <a:srgbClr val="4B5563"/>
                </a:solidFill>
                <a:latin typeface="Arial"/>
              </a:defRPr>
            </a:pPr>
            <a:r>
              <a:t>Diferencia promedio en horas entre la creación y el cierre definitivo.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24344" y="2011680"/>
            <a:ext cx="19659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800" b="1">
                <a:solidFill>
                  <a:srgbClr val="1F2937"/>
                </a:solidFill>
                <a:latin typeface="Arial"/>
              </a:defRPr>
            </a:pPr>
            <a:r>
              <a:t>Cumplimiento SLA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E6A15C"/>
                </a:solidFill>
                <a:latin typeface="Arial"/>
              </a:defRPr>
            </a:pPr>
            <a:r>
              <a:t>Efectividad %</a:t>
            </a:r>
          </a:p>
          <a:p>
            <a:pPr algn="ctr">
              <a:spcBef>
                <a:spcPts val="1500"/>
              </a:spcBef>
              <a:defRPr sz="1100">
                <a:solidFill>
                  <a:srgbClr val="4B5563"/>
                </a:solidFill>
                <a:latin typeface="Arial"/>
              </a:defRPr>
            </a:pPr>
            <a:r>
              <a:t>Porcentaje de reclamos cerrados dentro del plazo límite asignado.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9537192" y="2011680"/>
            <a:ext cx="1965960" cy="3474720"/>
          </a:xfrm>
          <a:prstGeom prst="rect">
            <a:avLst/>
          </a:prstGeom>
          <a:solidFill>
            <a:srgbClr val="FEF2F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800" b="1">
                <a:solidFill>
                  <a:srgbClr val="2E7D32"/>
                </a:solidFill>
                <a:latin typeface="Arial"/>
              </a:defRPr>
            </a:pPr>
            <a:r>
              <a:t>Alertas SLA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2E7D32"/>
                </a:solidFill>
                <a:latin typeface="Arial"/>
              </a:defRPr>
            </a:pPr>
            <a:r>
              <a:t>Vencimientos Activos</a:t>
            </a:r>
          </a:p>
          <a:p>
            <a:pPr algn="ctr">
              <a:spcBef>
                <a:spcPts val="1500"/>
              </a:spcBef>
              <a:defRPr sz="1100">
                <a:solidFill>
                  <a:srgbClr val="4B5563"/>
                </a:solidFill>
                <a:latin typeface="Arial"/>
              </a:defRPr>
            </a:pPr>
            <a:r>
              <a:t>Solicitudes abiertas que ya han excedido el tiempo estipulado.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  <a:latin typeface="Arial"/>
              </a:defRPr>
            </a:pPr>
            <a:r>
              <a:t>RuralConecta AI 🌱 Provincia de La Rioja | "Conectando Parajes, Cultivando Comunidad"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📈 3. Fórmulas de Tiempos de Servicio (SLA)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El cálculo del límite de tiempo se basa en la tabla de categorías (ej. Bacheo = 72 horas, Alumbrado = 24 horas, Arbolado = 48 horas). Las métricas de auditoría aplican las siguientes fórmulas en tiempo real: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651760"/>
            <a:ext cx="512064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2E7D32"/>
                </a:solidFill>
                <a:latin typeface="Arial"/>
              </a:defRPr>
            </a:pPr>
            <a:r>
              <a:t>Tiempo de Resolución Real (Tr)</a:t>
            </a:r>
          </a:p>
          <a:p>
            <a:br/>
            <a:pPr algn="ctr">
              <a:defRPr sz="1600" b="1">
                <a:solidFill>
                  <a:srgbClr val="1F2937"/>
                </a:solidFill>
                <a:latin typeface="Courier New"/>
              </a:defRPr>
            </a:pPr>
            <a:r>
              <a:t>Tr = FechaResolución - FechaCreación</a:t>
            </a:r>
            <a:br/>
          </a:p>
          <a:p>
            <a:pPr>
              <a:spcBef>
                <a:spcPts val="1000"/>
              </a:spcBef>
              <a:defRPr sz="1300">
                <a:solidFill>
                  <a:srgbClr val="4B5563"/>
                </a:solidFill>
                <a:latin typeface="Arial"/>
              </a:defRPr>
            </a:pPr>
            <a:r>
              <a:t>Mide la diferencia de horas netas transcurridas desde el ingreso de la solicitud hasta el cierre final (RESUELTO o RECHAZADO).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2651760"/>
            <a:ext cx="512064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E6A15C"/>
                </a:solidFill>
                <a:latin typeface="Arial"/>
              </a:defRPr>
            </a:pPr>
            <a:r>
              <a:t>Desviación o Retraso de SLA (Dsla)</a:t>
            </a:r>
          </a:p>
          <a:p>
            <a:br/>
            <a:pPr algn="ctr">
              <a:defRPr sz="1600" b="1">
                <a:solidFill>
                  <a:srgbClr val="1F2937"/>
                </a:solidFill>
                <a:latin typeface="Courier New"/>
              </a:defRPr>
            </a:pPr>
            <a:r>
              <a:t>Dsla = (FechaActual - FechaCreación) - SLAHoras</a:t>
            </a:r>
            <a:br/>
          </a:p>
          <a:p>
            <a:pPr>
              <a:spcBef>
                <a:spcPts val="1000"/>
              </a:spcBef>
              <a:defRPr sz="1300">
                <a:solidFill>
                  <a:srgbClr val="4B5563"/>
                </a:solidFill>
                <a:latin typeface="Arial"/>
              </a:defRPr>
            </a:pPr>
            <a:r>
              <a:t>Aplica a los reclamos abiertos. Si Dsla &gt; 0, significa que la solicitud superó el plazo máximo y activa automáticamente una Alerta SLA.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  <a:latin typeface="Arial"/>
              </a:defRPr>
            </a:pPr>
            <a:r>
              <a:t>RuralConecta AI 🌱 Provincia de La Rioja | "Conectando Parajes, Cultivando Comunidad"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🛠️ 4. Reportes de Auditoría Disponibles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0817352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800" b="1">
                <a:solidFill>
                  <a:srgbClr val="2E7D32"/>
                </a:solidFill>
                <a:latin typeface="Arial"/>
              </a:defRPr>
            </a:pPr>
            <a:r>
              <a:t>📊 Reporte 1: Desempeño por Categoría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Muestra estadísticas agrupadas por tipo de reclamo vecinal.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Visualiza: SLA establecido, conteo total, resueltos, promedio real de resolución, cumplimiento % y cantidad de casos vencidos activos.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017520"/>
            <a:ext cx="10817352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800" b="1">
                <a:solidFill>
                  <a:srgbClr val="2E7D32"/>
                </a:solidFill>
                <a:latin typeface="Arial"/>
              </a:defRPr>
            </a:pPr>
            <a:r>
              <a:t>⏳ Reporte 2: Análisis de Cuellos de Botella (Dwell Times)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Mide el tiempo de espera neto promedio de los expedientes en cada estado.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Permite el diagnóstico: si hay demora en PENDIENTE el retraso es administrativo; si es en EN PROCESO, es de cuadrillas de calle.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663440"/>
            <a:ext cx="10817352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800" b="1">
                <a:solidFill>
                  <a:srgbClr val="2E7D32"/>
                </a:solidFill>
                <a:latin typeface="Arial"/>
              </a:defRPr>
            </a:pPr>
            <a:r>
              <a:t>🔍 Reporte 3: Trazabilidad Cronológica de un Reclamo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Auditoría forense individualizada al ingresar el identificador único (ID).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Muestra metadatos generales y una línea de tiempo paso a paso con fecha, hora, operador responsable y rol del cambio.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  <a:latin typeface="Arial"/>
              </a:defRPr>
            </a:pPr>
            <a:r>
              <a:t>RuralConecta AI 🌱 Provincia de La Rioja | "Conectando Parajes, Cultivando Comunidad"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🛠️ 4. Reportes de Auditoría Disponibles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0817352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800" b="1">
                <a:solidFill>
                  <a:srgbClr val="2E7D32"/>
                </a:solidFill>
                <a:latin typeface="Arial"/>
              </a:defRPr>
            </a:pPr>
            <a:r>
              <a:t>⚠️ Reporte 4: Alertas de Desviación y SLA Excedido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Lista priorizada de reclamos abiertos fuera de tiempo, ordenada por prioridad y mayor retraso acumulado.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Facilita la reasignación inmediata a gestores y el seguimiento del plazo de entrega.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017520"/>
            <a:ext cx="10817352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800" b="1">
                <a:solidFill>
                  <a:srgbClr val="2E7D32"/>
                </a:solidFill>
                <a:latin typeface="Arial"/>
              </a:defRPr>
            </a:pPr>
            <a:r>
              <a:t>👤 Reporte 5: Desempeño de Gestores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Mide la productividad, carga laboral y eficiencia de cada operador municipal asignado.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Métricas: Casos activos, cerrados exitosamente, promedio de resolución y % de casos cumplidos a tiempo.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663440"/>
            <a:ext cx="10817352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800" b="1">
                <a:solidFill>
                  <a:srgbClr val="2E7D32"/>
                </a:solidFill>
                <a:latin typeface="Arial"/>
              </a:defRPr>
            </a:pPr>
            <a:r>
              <a:t>⚙️ Reportes 6 y 7: Testing y Visualización Gráfica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Opción 6: Permite simular transiciones de prueba coherentes para validar el sistema analítico (borra historial previo).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Opción 7: Genera gráficos interactivos sobre reclamos por barrio, categoría, estados y prioridades en Streamlit.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  <a:latin typeface="Arial"/>
              </a:defRPr>
            </a:pPr>
            <a:r>
              <a:t>RuralConecta AI 🌱 Provincia de La Rioja | "Conectando Parajes, Cultivando Comunidad"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🔄 5. Ciclo de Vida del Reclamo y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  <a:latin typeface="Arial"/>
              </a:defRPr>
            </a:pPr>
            <a:r>
              <a:t>Flujo Operativo de Estados: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3736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 b="1">
                <a:solidFill>
                  <a:srgbClr val="2E7D32"/>
                </a:solidFill>
                <a:latin typeface="Arial"/>
              </a:defRPr>
            </a:pPr>
            <a:r>
              <a:t>1. PENDIENTE</a:t>
            </a:r>
          </a:p>
          <a:p>
            <a:pPr>
              <a:spcBef>
                <a:spcPts val="2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Ingresado por el vecino o analista a la base de datos.</a:t>
            </a:r>
          </a:p>
          <a:p>
            <a:pPr>
              <a:spcBef>
                <a:spcPts val="1200"/>
              </a:spcBef>
              <a:defRPr sz="1500" b="1">
                <a:solidFill>
                  <a:srgbClr val="2E7D32"/>
                </a:solidFill>
                <a:latin typeface="Arial"/>
              </a:defRPr>
            </a:pPr>
            <a:r>
              <a:t>2. EN REVISION</a:t>
            </a:r>
          </a:p>
          <a:p>
            <a:pPr>
              <a:spcBef>
                <a:spcPts val="2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El gestor valida datos, asigna nivel de prioridad y operador.</a:t>
            </a:r>
          </a:p>
          <a:p>
            <a:pPr>
              <a:spcBef>
                <a:spcPts val="1200"/>
              </a:spcBef>
              <a:defRPr sz="1500" b="1">
                <a:solidFill>
                  <a:srgbClr val="2E7D32"/>
                </a:solidFill>
                <a:latin typeface="Arial"/>
              </a:defRPr>
            </a:pPr>
            <a:r>
              <a:t>3. EN PROCESO</a:t>
            </a:r>
          </a:p>
          <a:p>
            <a:pPr>
              <a:spcBef>
                <a:spcPts val="2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Caso derivado a cuadrillas de trabajo urbano en la calle.</a:t>
            </a:r>
          </a:p>
          <a:p>
            <a:pPr>
              <a:spcBef>
                <a:spcPts val="1200"/>
              </a:spcBef>
              <a:defRPr sz="1500" b="1">
                <a:solidFill>
                  <a:srgbClr val="2E7D32"/>
                </a:solidFill>
                <a:latin typeface="Arial"/>
              </a:defRPr>
            </a:pPr>
            <a:r>
              <a:t>4. RESUELTO</a:t>
            </a:r>
          </a:p>
          <a:p>
            <a:pPr>
              <a:spcBef>
                <a:spcPts val="2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Cierre definitivo por solución técnica del inconveniente.</a:t>
            </a:r>
          </a:p>
          <a:p>
            <a:pPr>
              <a:spcBef>
                <a:spcPts val="1200"/>
              </a:spcBef>
              <a:defRPr sz="1500" b="1">
                <a:solidFill>
                  <a:srgbClr val="2E7D32"/>
                </a:solidFill>
                <a:latin typeface="Arial"/>
              </a:defRPr>
            </a:pPr>
            <a:r>
              <a:t>5. RECHAZADO</a:t>
            </a:r>
          </a:p>
          <a:p>
            <a:pPr>
              <a:spcBef>
                <a:spcPts val="2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Cierre final de caso duplicado, inválido o fuera de rango.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1887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  <a:latin typeface="Arial"/>
              </a:defRPr>
            </a:pPr>
            <a:r>
              <a:t>Roles y Responsabilidades: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12" y="173736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 b="1">
                <a:solidFill>
                  <a:srgbClr val="E6A15C"/>
                </a:solidFill>
                <a:latin typeface="Arial"/>
              </a:defRPr>
            </a:pPr>
            <a:r>
              <a:t>👤 Vecino (ID 1):</a:t>
            </a:r>
          </a:p>
          <a:p>
            <a:pPr>
              <a:spcBef>
                <a:spcPts val="2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Ingresa el reclamo y lo sitúa en PENDIENTE. Su comentario es inmutable para asegurar transparencia.</a:t>
            </a:r>
          </a:p>
          <a:p>
            <a:pPr>
              <a:spcBef>
                <a:spcPts val="1200"/>
              </a:spcBef>
              <a:defRPr sz="1500" b="1">
                <a:solidFill>
                  <a:srgbClr val="E6A15C"/>
                </a:solidFill>
                <a:latin typeface="Arial"/>
              </a:defRPr>
            </a:pPr>
            <a:r>
              <a:t>💼 Gestor (ID 2):</a:t>
            </a:r>
          </a:p>
          <a:p>
            <a:pPr>
              <a:spcBef>
                <a:spcPts val="2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Modifica el estado del caso operativamente. El historial registra sus acciones con nombre y apellido.</a:t>
            </a:r>
          </a:p>
          <a:p>
            <a:pPr>
              <a:spcBef>
                <a:spcPts val="1200"/>
              </a:spcBef>
              <a:defRPr sz="1500" b="1">
                <a:solidFill>
                  <a:srgbClr val="E6A15C"/>
                </a:solidFill>
                <a:latin typeface="Arial"/>
              </a:defRPr>
            </a:pPr>
            <a:r>
              <a:t>📈 Analista (ID 3):</a:t>
            </a:r>
          </a:p>
          <a:p>
            <a:pPr>
              <a:spcBef>
                <a:spcPts val="2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Supervisa las alertas de desviación global, reasigna casos y descarga reportes analíticos.</a:t>
            </a:r>
          </a:p>
          <a:p>
            <a:pPr>
              <a:spcBef>
                <a:spcPts val="1200"/>
              </a:spcBef>
              <a:defRPr sz="1500" b="1">
                <a:solidFill>
                  <a:srgbClr val="E6A15C"/>
                </a:solidFill>
                <a:latin typeface="Arial"/>
              </a:defRPr>
            </a:pPr>
            <a:r>
              <a:t>⚙️ Sistema (Automático):</a:t>
            </a:r>
          </a:p>
          <a:p>
            <a:pPr>
              <a:spcBef>
                <a:spcPts val="200"/>
              </a:spcBef>
              <a:defRPr sz="1200">
                <a:solidFill>
                  <a:srgbClr val="4B5563"/>
                </a:solidFill>
                <a:latin typeface="Arial"/>
              </a:defRPr>
            </a:pPr>
            <a:r>
              <a:t>Genera logs en transiciones de testing o ante fallas en los disparadores relacionales.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  <a:latin typeface="Arial"/>
              </a:defRPr>
            </a:pPr>
            <a:r>
              <a:t>RuralConecta AI 🌱 Provincia de La Rioja | "Conectando Parajes, Cultivando Comunidad"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E7D32"/>
                </a:solidFill>
                <a:latin typeface="Arial"/>
              </a:defRPr>
            </a:pPr>
            <a:r>
              <a:t>💡 6. Buenas Prácticas de Gestión de Auditoría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Para maximizar la efectividad del sistema, los coordinadores del medio rural deben seguir este plan de buenas prácticas:</a:t>
            </a:r>
          </a:p>
          <a:p>
            <a:pPr>
              <a:spcBef>
                <a:spcPts val="1500"/>
              </a:spcBef>
              <a:defRPr sz="1600" b="1">
                <a:solidFill>
                  <a:srgbClr val="2E7D32"/>
                </a:solidFill>
                <a:latin typeface="Arial"/>
              </a:defRPr>
            </a:pPr>
            <a:r>
              <a:t>📅 Monitoreo Diario de Alertas SLA:</a:t>
            </a:r>
          </a:p>
          <a:p>
            <a:pPr>
              <a:spcBef>
                <a:spcPts val="300"/>
              </a:spcBef>
              <a:defRPr sz="1400">
                <a:solidFill>
                  <a:srgbClr val="1F2937"/>
                </a:solidFill>
                <a:latin typeface="Arial"/>
              </a:defRPr>
            </a:pPr>
            <a:r>
              <a:t>Iniciar la jornada revisando el Reporte 4 (Alertas de Desviación) para reasignar tareas críticas con mayor retraso acumulado.</a:t>
            </a:r>
          </a:p>
          <a:p>
            <a:pPr>
              <a:spcBef>
                <a:spcPts val="1500"/>
              </a:spcBef>
              <a:defRPr sz="1600" b="1">
                <a:solidFill>
                  <a:srgbClr val="2E7D32"/>
                </a:solidFill>
                <a:latin typeface="Arial"/>
              </a:defRPr>
            </a:pPr>
            <a:r>
              <a:t>⏳ Control Semanal de Cuellos de Botella:</a:t>
            </a:r>
          </a:p>
          <a:p>
            <a:pPr>
              <a:spcBef>
                <a:spcPts val="300"/>
              </a:spcBef>
              <a:defRPr sz="1400">
                <a:solidFill>
                  <a:srgbClr val="1F2937"/>
                </a:solidFill>
                <a:latin typeface="Arial"/>
              </a:defRPr>
            </a:pPr>
            <a:r>
              <a:t>Supervisar el Reporte 2 para identificar incrementos en la permanencia en PENDIENTE o EN PROCESO (falta de respuesta en parajes).</a:t>
            </a:r>
          </a:p>
          <a:p>
            <a:pPr>
              <a:spcBef>
                <a:spcPts val="1500"/>
              </a:spcBef>
              <a:defRPr sz="1600" b="1">
                <a:solidFill>
                  <a:srgbClr val="2E7D32"/>
                </a:solidFill>
                <a:latin typeface="Arial"/>
              </a:defRPr>
            </a:pPr>
            <a:r>
              <a:t>🔍 Auditoría Forense por ID:</a:t>
            </a:r>
          </a:p>
          <a:p>
            <a:pPr>
              <a:spcBef>
                <a:spcPts val="300"/>
              </a:spcBef>
              <a:defRPr sz="1400">
                <a:solidFill>
                  <a:srgbClr val="1F2937"/>
                </a:solidFill>
                <a:latin typeface="Arial"/>
              </a:defRPr>
            </a:pPr>
            <a:r>
              <a:t>Utilizar el Reporte 3 ante consultas de ciudadanos o coordinadores locales para documentar con fecha, hora y responsable cada etapa de la gestión.</a:t>
            </a:r>
          </a:p>
          <a:p>
            <a:pPr>
              <a:spcBef>
                <a:spcPts val="1500"/>
              </a:spcBef>
              <a:defRPr sz="1600" b="1">
                <a:solidFill>
                  <a:srgbClr val="2E7D32"/>
                </a:solidFill>
                <a:latin typeface="Arial"/>
              </a:defRPr>
            </a:pPr>
            <a:r>
              <a:t>⚙️ Simulación Segura:</a:t>
            </a:r>
          </a:p>
          <a:p>
            <a:pPr>
              <a:spcBef>
                <a:spcPts val="300"/>
              </a:spcBef>
              <a:defRPr sz="1400">
                <a:solidFill>
                  <a:srgbClr val="1F2937"/>
                </a:solidFill>
                <a:latin typeface="Arial"/>
              </a:defRPr>
            </a:pPr>
            <a:r>
              <a:t>Utilizar la herramienta de simulación (Reporte 6) únicamente en entornos de prueba, ya que limpia el historial real de auditoría.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  <a:latin typeface="Arial"/>
              </a:defRPr>
            </a:pPr>
            <a:r>
              <a:t>RuralConecta AI 🌱 Provincia de La Rioja | "Conectando Parajes, Cultivando Comunidad"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